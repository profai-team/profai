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Shape 1"/>
          <p:cNvSpPr/>
          <p:nvPr/>
        </p:nvSpPr>
        <p:spPr>
          <a:xfrm>
            <a:off x="3749040" y="731520"/>
            <a:ext cx="1645920" cy="1645920"/>
          </a:xfrm>
          <a:prstGeom prst="ellipse">
            <a:avLst/>
          </a:prstGeom>
          <a:solidFill>
            <a:srgbClr val="0066CC"/>
          </a:solidFill>
          <a:ln/>
        </p:spPr>
      </p:sp>
      <p:sp>
        <p:nvSpPr>
          <p:cNvPr id="4" name="Text 2"/>
          <p:cNvSpPr/>
          <p:nvPr/>
        </p:nvSpPr>
        <p:spPr>
          <a:xfrm>
            <a:off x="3749040" y="731520"/>
            <a:ext cx="1645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ProfAI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200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Professor Exam Style Analysis Platform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UYG338 Software Project Management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Erdem Acar  •  Enes Albas  •  Ali Emir Erten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–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web platform that analyzes university professors' exam styles.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Helps students prepare for exams with question type distribution, topic analysis, and difficulty scores.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265176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371600" y="2103120"/>
            <a:ext cx="1005840" cy="1005840"/>
          </a:xfrm>
          <a:prstGeom prst="ellipse">
            <a:avLst/>
          </a:prstGeom>
          <a:solidFill>
            <a:srgbClr val="E8F0FE"/>
          </a:solidFill>
          <a:ln/>
        </p:spPr>
      </p:sp>
      <p:sp>
        <p:nvSpPr>
          <p:cNvPr id="7" name="Text 5"/>
          <p:cNvSpPr/>
          <p:nvPr/>
        </p:nvSpPr>
        <p:spPr>
          <a:xfrm>
            <a:off x="1371600" y="2148840"/>
            <a:ext cx="1005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📊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85800" y="32004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Type Analysis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" y="356616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choice, open-ended,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true/false distribution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83280" y="1920240"/>
            <a:ext cx="265176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206240" y="2103120"/>
            <a:ext cx="1005840" cy="1005840"/>
          </a:xfrm>
          <a:prstGeom prst="ellipse">
            <a:avLst/>
          </a:prstGeom>
          <a:solidFill>
            <a:srgbClr val="E8F0FE"/>
          </a:solidFill>
          <a:ln/>
        </p:spPr>
      </p:sp>
      <p:sp>
        <p:nvSpPr>
          <p:cNvPr id="12" name="Text 10"/>
          <p:cNvSpPr/>
          <p:nvPr/>
        </p:nvSpPr>
        <p:spPr>
          <a:xfrm>
            <a:off x="4206240" y="2148840"/>
            <a:ext cx="1005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📖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3520440" y="32004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Distribution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520440" y="356616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how frequently each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appears in exams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17920" y="1920240"/>
            <a:ext cx="265176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040880" y="2103120"/>
            <a:ext cx="1005840" cy="1005840"/>
          </a:xfrm>
          <a:prstGeom prst="ellipse">
            <a:avLst/>
          </a:prstGeom>
          <a:solidFill>
            <a:srgbClr val="E8F0FE"/>
          </a:solidFill>
          <a:ln/>
        </p:spPr>
      </p:sp>
      <p:sp>
        <p:nvSpPr>
          <p:cNvPr id="17" name="Text 15"/>
          <p:cNvSpPr/>
          <p:nvPr/>
        </p:nvSpPr>
        <p:spPr>
          <a:xfrm>
            <a:off x="7040880" y="2148840"/>
            <a:ext cx="1005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🎯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6355080" y="32004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Difficulty Score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355080" y="356616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Calculates the overall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difficulty level of exams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466344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ProfAI – UYG338 Software Project Management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772400" y="46634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2/9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HW1: Project Planning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804672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81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14300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E8F0FE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1430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📋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463040" y="10972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 Scrum Board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463040" y="14173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Sprints, 30 tasks, Story Point assignments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1965960"/>
            <a:ext cx="804672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8100000">
              <a:srgbClr val="00000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31520" y="210312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E8F0FE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103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📄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463040" y="20574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Plan (Excel)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463040" y="23774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Overview, Team, Timeline, Budget, Risk, SWOT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2926080"/>
            <a:ext cx="804672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8100000">
              <a:srgbClr val="000000">
                <a:alpha val="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31520" y="306324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E8F0FE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30632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📀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463040" y="30175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UML Diagrams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463040" y="333756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Diagram and Use Case Diagram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3886200"/>
            <a:ext cx="804672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8100000">
              <a:srgbClr val="000000">
                <a:alpha val="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31520" y="402336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E8F0FE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40233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💻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463040" y="39776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Repository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463040" y="42976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Monorepo structure, CI/CD pipeline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466344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ProfAI – UYG338 Software Project Management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772400" y="46634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3/9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HW2: Product Documentation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Comprehensive product documentation with 14 sections.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393192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371600"/>
            <a:ext cx="320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6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60120" y="1371600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1847088"/>
            <a:ext cx="393192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847088"/>
            <a:ext cx="320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6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60120" y="1847088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Vision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2322576"/>
            <a:ext cx="393192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322576"/>
            <a:ext cx="320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6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60120" y="2322576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Features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2798064"/>
            <a:ext cx="393192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798064"/>
            <a:ext cx="320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6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60120" y="2798064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Architecture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3273552"/>
            <a:ext cx="393192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273552"/>
            <a:ext cx="320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6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60120" y="3273552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3749040"/>
            <a:ext cx="393192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3749040"/>
            <a:ext cx="320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6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60120" y="3749040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Architecture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8640" y="4224528"/>
            <a:ext cx="393192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4224528"/>
            <a:ext cx="320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6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60120" y="4224528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Management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754880" y="1371600"/>
            <a:ext cx="393192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</p:spPr>
      </p:sp>
      <p:sp>
        <p:nvSpPr>
          <p:cNvPr id="27" name="Text 25"/>
          <p:cNvSpPr/>
          <p:nvPr/>
        </p:nvSpPr>
        <p:spPr>
          <a:xfrm>
            <a:off x="4846320" y="1371600"/>
            <a:ext cx="320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6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166360" y="1371600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Clearance System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754880" y="1847088"/>
            <a:ext cx="393192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</p:spPr>
      </p:sp>
      <p:sp>
        <p:nvSpPr>
          <p:cNvPr id="30" name="Text 28"/>
          <p:cNvSpPr/>
          <p:nvPr/>
        </p:nvSpPr>
        <p:spPr>
          <a:xfrm>
            <a:off x="4846320" y="1847088"/>
            <a:ext cx="320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6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166360" y="1847088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Experience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754880" y="2322576"/>
            <a:ext cx="393192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</p:spPr>
      </p:sp>
      <p:sp>
        <p:nvSpPr>
          <p:cNvPr id="33" name="Text 31"/>
          <p:cNvSpPr/>
          <p:nvPr/>
        </p:nvSpPr>
        <p:spPr>
          <a:xfrm>
            <a:off x="4846320" y="2322576"/>
            <a:ext cx="320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6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166360" y="2322576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754880" y="2798064"/>
            <a:ext cx="393192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</p:spPr>
      </p:sp>
      <p:sp>
        <p:nvSpPr>
          <p:cNvPr id="36" name="Text 34"/>
          <p:cNvSpPr/>
          <p:nvPr/>
        </p:nvSpPr>
        <p:spPr>
          <a:xfrm>
            <a:off x="4846320" y="2798064"/>
            <a:ext cx="320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6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166360" y="2798064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&amp; Scalability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754880" y="3273552"/>
            <a:ext cx="393192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</p:spPr>
      </p:sp>
      <p:sp>
        <p:nvSpPr>
          <p:cNvPr id="39" name="Text 37"/>
          <p:cNvSpPr/>
          <p:nvPr/>
        </p:nvSpPr>
        <p:spPr>
          <a:xfrm>
            <a:off x="4846320" y="3273552"/>
            <a:ext cx="320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6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166360" y="3273552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Analysis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754880" y="3749040"/>
            <a:ext cx="393192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</p:spPr>
      </p:sp>
      <p:sp>
        <p:nvSpPr>
          <p:cNvPr id="42" name="Text 40"/>
          <p:cNvSpPr/>
          <p:nvPr/>
        </p:nvSpPr>
        <p:spPr>
          <a:xfrm>
            <a:off x="4846320" y="3749040"/>
            <a:ext cx="320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6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166360" y="3749040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Licensing Model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4754880" y="4224528"/>
            <a:ext cx="393192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</p:spPr>
      </p:sp>
      <p:sp>
        <p:nvSpPr>
          <p:cNvPr id="45" name="Text 43"/>
          <p:cNvSpPr/>
          <p:nvPr/>
        </p:nvSpPr>
        <p:spPr>
          <a:xfrm>
            <a:off x="4846320" y="4224528"/>
            <a:ext cx="320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6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5166360" y="4224528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Requirements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457200" y="466344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ProfAI – UYG338 Software Project Management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7772400" y="46634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4/9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HW3: Risk Analysis &amp; Testing Plan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3840480" cy="347472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005840"/>
            <a:ext cx="3840480" cy="457200"/>
          </a:xfrm>
          <a:prstGeom prst="roundRect">
            <a:avLst/>
          </a:prstGeom>
          <a:solidFill>
            <a:srgbClr val="0066CC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0584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Analysis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16002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A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identification &amp; assessment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20574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A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5x5 Risk Matrix (Probability x Impact)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25146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A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Preventive actions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29718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A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security &amp; data privacy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960" y="34290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A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roadmap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1005840"/>
            <a:ext cx="3840480" cy="347472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1005840"/>
            <a:ext cx="3840480" cy="457200"/>
          </a:xfrm>
          <a:prstGeom prst="roundRect">
            <a:avLst/>
          </a:prstGeom>
          <a:solidFill>
            <a:srgbClr val="00B4D8"/>
          </a:solidFill>
          <a:ln/>
        </p:spPr>
      </p:sp>
      <p:sp>
        <p:nvSpPr>
          <p:cNvPr id="14" name="Text 12"/>
          <p:cNvSpPr/>
          <p:nvPr/>
        </p:nvSpPr>
        <p:spPr>
          <a:xfrm>
            <a:off x="4754880" y="100584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Plan &amp; Success Criteria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029200" y="16002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Unit, Integration, E2E Testing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0" y="20574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endpoint validation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0" y="25146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load &lt; 2 seconds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029200" y="29718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CRUD operations work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29200" y="34290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upload successful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466344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ProfAI – UYG338 Software Project Management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772400" y="46634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5/9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HW4: MVP &amp; Working System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192024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05156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6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697480" y="1005840"/>
            <a:ext cx="192024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697480" y="105156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6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2697480" y="169164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846320" y="1005840"/>
            <a:ext cx="192024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0" y="105156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6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4846320" y="169164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995160" y="1005840"/>
            <a:ext cx="192024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995160" y="105156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6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6995160" y="169164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2560320"/>
            <a:ext cx="804672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22960" y="2651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22960" y="3017520"/>
            <a:ext cx="7315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full-stack web application (Docker)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CI/CD pipeline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board, documentation, risk updates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15-minute live demo plan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466344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ProfAI – UYG338 Software Project Management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772400" y="46634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6/9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Plan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393192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81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234440"/>
            <a:ext cx="548640" cy="548640"/>
          </a:xfrm>
          <a:prstGeom prst="ellipse">
            <a:avLst/>
          </a:prstGeom>
          <a:solidFill>
            <a:srgbClr val="0066CC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2344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71600" y="111556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Startup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371600" y="14173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with 3 containers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749040" y="1325880"/>
            <a:ext cx="594360" cy="320040"/>
          </a:xfrm>
          <a:prstGeom prst="roundRect">
            <a:avLst>
              <a:gd name="adj" fmla="val 17143"/>
            </a:avLst>
          </a:prstGeom>
          <a:solidFill>
            <a:srgbClr val="E8F0FE"/>
          </a:solidFill>
          <a:ln/>
        </p:spPr>
      </p:sp>
      <p:sp>
        <p:nvSpPr>
          <p:cNvPr id="10" name="Text 8"/>
          <p:cNvSpPr/>
          <p:nvPr/>
        </p:nvSpPr>
        <p:spPr>
          <a:xfrm>
            <a:off x="3749040" y="1325880"/>
            <a:ext cx="594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6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min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48640" y="2240280"/>
            <a:ext cx="393192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8100000">
              <a:srgbClr val="000000">
                <a:alpha val="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85800" y="2468880"/>
            <a:ext cx="548640" cy="548640"/>
          </a:xfrm>
          <a:prstGeom prst="ellipse">
            <a:avLst/>
          </a:prstGeom>
          <a:solidFill>
            <a:srgbClr val="0066CC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24688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371600" y="235000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&amp; Login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371600" y="26517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user, JWT authentication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749040" y="2560320"/>
            <a:ext cx="594360" cy="320040"/>
          </a:xfrm>
          <a:prstGeom prst="roundRect">
            <a:avLst>
              <a:gd name="adj" fmla="val 17143"/>
            </a:avLst>
          </a:prstGeom>
          <a:solidFill>
            <a:srgbClr val="E8F0FE"/>
          </a:solidFill>
          <a:ln/>
        </p:spPr>
      </p:sp>
      <p:sp>
        <p:nvSpPr>
          <p:cNvPr id="17" name="Text 15"/>
          <p:cNvSpPr/>
          <p:nvPr/>
        </p:nvSpPr>
        <p:spPr>
          <a:xfrm>
            <a:off x="3749040" y="2560320"/>
            <a:ext cx="594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6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min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48640" y="3474720"/>
            <a:ext cx="393192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8100000">
              <a:srgbClr val="000000">
                <a:alpha val="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85800" y="3703320"/>
            <a:ext cx="548640" cy="548640"/>
          </a:xfrm>
          <a:prstGeom prst="ellipse">
            <a:avLst/>
          </a:prstGeom>
          <a:solidFill>
            <a:srgbClr val="0066CC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37033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371600" y="358444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Professor Listing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371600" y="38862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Search, filter, detail page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749040" y="3794760"/>
            <a:ext cx="594360" cy="320040"/>
          </a:xfrm>
          <a:prstGeom prst="roundRect">
            <a:avLst>
              <a:gd name="adj" fmla="val 17143"/>
            </a:avLst>
          </a:prstGeom>
          <a:solidFill>
            <a:srgbClr val="E8F0FE"/>
          </a:solidFill>
          <a:ln/>
        </p:spPr>
      </p:sp>
      <p:sp>
        <p:nvSpPr>
          <p:cNvPr id="24" name="Text 22"/>
          <p:cNvSpPr/>
          <p:nvPr/>
        </p:nvSpPr>
        <p:spPr>
          <a:xfrm>
            <a:off x="3749040" y="3794760"/>
            <a:ext cx="594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6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min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754880" y="1005840"/>
            <a:ext cx="393192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8100000">
              <a:srgbClr val="000000">
                <a:alpha val="6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892040" y="1234440"/>
            <a:ext cx="548640" cy="548640"/>
          </a:xfrm>
          <a:prstGeom prst="ellipse">
            <a:avLst/>
          </a:prstGeom>
          <a:solidFill>
            <a:srgbClr val="0066CC"/>
          </a:solidFill>
          <a:ln/>
        </p:spPr>
      </p:sp>
      <p:sp>
        <p:nvSpPr>
          <p:cNvPr id="27" name="Text 25"/>
          <p:cNvSpPr/>
          <p:nvPr/>
        </p:nvSpPr>
        <p:spPr>
          <a:xfrm>
            <a:off x="4892040" y="12344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5577840" y="111556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 Upload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577840" y="14173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PDF/JPG file upload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955280" y="1325880"/>
            <a:ext cx="594360" cy="320040"/>
          </a:xfrm>
          <a:prstGeom prst="roundRect">
            <a:avLst>
              <a:gd name="adj" fmla="val 17143"/>
            </a:avLst>
          </a:prstGeom>
          <a:solidFill>
            <a:srgbClr val="E8F0FE"/>
          </a:solidFill>
          <a:ln/>
        </p:spPr>
      </p:sp>
      <p:sp>
        <p:nvSpPr>
          <p:cNvPr id="31" name="Text 29"/>
          <p:cNvSpPr/>
          <p:nvPr/>
        </p:nvSpPr>
        <p:spPr>
          <a:xfrm>
            <a:off x="7955280" y="1325880"/>
            <a:ext cx="594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6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min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754880" y="2240280"/>
            <a:ext cx="393192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8100000">
              <a:srgbClr val="000000">
                <a:alpha val="6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892040" y="2468880"/>
            <a:ext cx="548640" cy="548640"/>
          </a:xfrm>
          <a:prstGeom prst="ellipse">
            <a:avLst/>
          </a:prstGeom>
          <a:solidFill>
            <a:srgbClr val="0066CC"/>
          </a:solidFill>
          <a:ln/>
        </p:spPr>
      </p:sp>
      <p:sp>
        <p:nvSpPr>
          <p:cNvPr id="34" name="Text 32"/>
          <p:cNvSpPr/>
          <p:nvPr/>
        </p:nvSpPr>
        <p:spPr>
          <a:xfrm>
            <a:off x="4892040" y="24688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5577840" y="235000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&amp; Charts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577840" y="26517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 chart, bar chart, difficulty score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7955280" y="2560320"/>
            <a:ext cx="594360" cy="320040"/>
          </a:xfrm>
          <a:prstGeom prst="roundRect">
            <a:avLst>
              <a:gd name="adj" fmla="val 17143"/>
            </a:avLst>
          </a:prstGeom>
          <a:solidFill>
            <a:srgbClr val="E8F0FE"/>
          </a:solidFill>
          <a:ln/>
        </p:spPr>
      </p:sp>
      <p:sp>
        <p:nvSpPr>
          <p:cNvPr id="38" name="Text 36"/>
          <p:cNvSpPr/>
          <p:nvPr/>
        </p:nvSpPr>
        <p:spPr>
          <a:xfrm>
            <a:off x="7955280" y="2560320"/>
            <a:ext cx="594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6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min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754880" y="3474720"/>
            <a:ext cx="393192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8100000">
              <a:srgbClr val="000000">
                <a:alpha val="6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892040" y="3703320"/>
            <a:ext cx="548640" cy="548640"/>
          </a:xfrm>
          <a:prstGeom prst="ellipse">
            <a:avLst/>
          </a:prstGeom>
          <a:solidFill>
            <a:srgbClr val="0066CC"/>
          </a:solidFill>
          <a:ln/>
        </p:spPr>
      </p:sp>
      <p:sp>
        <p:nvSpPr>
          <p:cNvPr id="41" name="Text 39"/>
          <p:cNvSpPr/>
          <p:nvPr/>
        </p:nvSpPr>
        <p:spPr>
          <a:xfrm>
            <a:off x="4892040" y="37033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5577840" y="358444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&amp; CI/CD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5577840" y="38862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 structure, Actions, sprint board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7955280" y="3794760"/>
            <a:ext cx="594360" cy="320040"/>
          </a:xfrm>
          <a:prstGeom prst="roundRect">
            <a:avLst>
              <a:gd name="adj" fmla="val 17143"/>
            </a:avLst>
          </a:prstGeom>
          <a:solidFill>
            <a:srgbClr val="E8F0FE"/>
          </a:solidFill>
          <a:ln/>
        </p:spPr>
      </p:sp>
      <p:sp>
        <p:nvSpPr>
          <p:cNvPr id="45" name="Text 43"/>
          <p:cNvSpPr/>
          <p:nvPr/>
        </p:nvSpPr>
        <p:spPr>
          <a:xfrm>
            <a:off x="7955280" y="3794760"/>
            <a:ext cx="594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6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min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457200" y="466344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ProfAI – UYG338 Software Project Management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7772400" y="46634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7/9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Screenshots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685800"/>
            <a:ext cx="411480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pic>
        <p:nvPicPr>
          <p:cNvPr id="5" name="Image 0" descr="screenshots/ho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731520"/>
            <a:ext cx="4023360" cy="1691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242316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6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Page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617720" y="685800"/>
            <a:ext cx="411480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pic>
        <p:nvPicPr>
          <p:cNvPr id="8" name="Image 1" descr="screenshots/professo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731520"/>
            <a:ext cx="4023360" cy="16916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663440" y="242316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6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Professors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320040" y="2743200"/>
            <a:ext cx="411480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pic>
        <p:nvPicPr>
          <p:cNvPr id="11" name="Image 2" descr="screenshots/dashboar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788920"/>
            <a:ext cx="4023360" cy="169164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65760" y="448056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6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100" dirty="0"/>
          </a:p>
        </p:txBody>
      </p:sp>
      <p:sp>
        <p:nvSpPr>
          <p:cNvPr id="13" name="Shape 8"/>
          <p:cNvSpPr/>
          <p:nvPr/>
        </p:nvSpPr>
        <p:spPr>
          <a:xfrm>
            <a:off x="4617720" y="2743200"/>
            <a:ext cx="411480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pic>
        <p:nvPicPr>
          <p:cNvPr id="14" name="Image 3" descr="screenshots/uploa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2788920"/>
            <a:ext cx="4023360" cy="169164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4663440" y="448056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6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 Upload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1887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2103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appreciate your questions.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Erdem Acar  •  Enes Albas  •  Ali Emir Erten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566160"/>
            <a:ext cx="4572000" cy="1097280"/>
          </a:xfrm>
          <a:prstGeom prst="roundRect">
            <a:avLst>
              <a:gd name="adj" fmla="val 8333"/>
            </a:avLst>
          </a:prstGeom>
          <a:solidFill>
            <a:srgbClr val="1B2A4A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468880" y="3657600"/>
            <a:ext cx="4206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80000"/>
              </a:lnSpc>
              <a:buNone/>
            </a:pPr>
            <a:r>
              <a:rPr lang="en-US" sz="1200" b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 </a:t>
            </a:r>
            <a:pPr indent="0" marL="0">
              <a:lnSpc>
                <a:spcPct val="180000"/>
              </a:lnSpc>
              <a:buNone/>
            </a:pPr>
            <a:r>
              <a:rPr lang="en-US" sz="1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github.com/ProfAI-Team/ProfAI</a:t>
            </a:r>
            <a:endParaRPr lang="en-US" sz="1200" dirty="0"/>
          </a:p>
          <a:p>
            <a:pPr indent="0" marL="0">
              <a:lnSpc>
                <a:spcPct val="180000"/>
              </a:lnSpc>
              <a:buNone/>
            </a:pPr>
            <a:r>
              <a:rPr lang="en-US" sz="1200" b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Jira: </a:t>
            </a:r>
            <a:pPr indent="0" marL="0">
              <a:lnSpc>
                <a:spcPct val="180000"/>
              </a:lnSpc>
              <a:buNone/>
            </a:pPr>
            <a:r>
              <a:rPr lang="en-US" sz="1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devmeet-app.atlassian.net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ProfAI Presentation</dc:title>
  <dc:subject>PptxGenJS Presentation</dc:subject>
  <dc:creator>ProfAI Team</dc:creator>
  <cp:lastModifiedBy>ProfAI Team</cp:lastModifiedBy>
  <cp:revision>1</cp:revision>
  <dcterms:created xsi:type="dcterms:W3CDTF">2026-03-26T19:49:16Z</dcterms:created>
  <dcterms:modified xsi:type="dcterms:W3CDTF">2026-03-26T19:49:16Z</dcterms:modified>
</cp:coreProperties>
</file>